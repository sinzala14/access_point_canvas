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Arrivals</c:v>
                </c:pt>
              </c:strCache>
            </c:strRef>
          </c:tx>
          <c:spPr>
            <a:solidFill>
              <a:srgbClr val="8E5FD9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1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 (target)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2.2000000000000002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6E-4B34-9439-B4A3767EFC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5E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6350" cap="flat">
              <a:solidFill>
                <a:srgbClr val="E5DA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5E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B1F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7B8-407E-A4DB-022A646E3687}"/>
              </c:ext>
            </c:extLst>
          </c:dPt>
          <c:dPt>
            <c:idx val="1"/>
            <c:bubble3D val="0"/>
            <c:spPr>
              <a:solidFill>
                <a:srgbClr val="8E5F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B8-407E-A4DB-022A646E3687}"/>
              </c:ext>
            </c:extLst>
          </c:dPt>
          <c:dPt>
            <c:idx val="2"/>
            <c:bubble3D val="0"/>
            <c:spPr>
              <a:solidFill>
                <a:srgbClr val="F4B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7B8-407E-A4DB-022A646E3687}"/>
              </c:ext>
            </c:extLst>
          </c:dPt>
          <c:dPt>
            <c:idx val="3"/>
            <c:bubble3D val="0"/>
            <c:spPr>
              <a:solidFill>
                <a:srgbClr val="D8C4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7B8-407E-A4DB-022A646E368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7B8-407E-A4DB-022A646E368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B8-407E-A4DB-022A646E368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7B8-407E-A4DB-022A646E368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7B8-407E-A4DB-022A646E368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Partner Onboarding &amp; Marketing</c:v>
                </c:pt>
                <c:pt idx="2">
                  <c:v>Operations &amp; Team</c:v>
                </c:pt>
                <c:pt idx="3">
                  <c:v>Working 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7B8-407E-A4DB-022A646E36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698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4B1F7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3840480" cy="3840480"/>
          </a:xfrm>
          <a:prstGeom prst="ellipse">
            <a:avLst/>
          </a:prstGeom>
          <a:solidFill>
            <a:srgbClr val="8E5FD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8E5FD9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TECH  •  ZAMBIA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Tripper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D8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It.  Save It.  Experience It.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4D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budget-first trip planning platform that shows travelers the true cost of their journey — before they leave home.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planning breaks down long before the trip begins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mages/mapmarker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79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Destination-first thinking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ask “where do you want to stay?” before a traveler even knows what they can afford.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74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mages/calculator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20459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679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total costs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6324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food, and incidentals are guesswork — the real cost of a trip only becomes clear on the road.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976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mages/layer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446913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51023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planning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14400" y="5486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Accommodation, transport, food, and budgeting live in separate apps, calls, and spreadsheets.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976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mages/piggy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9410" y="446913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37960" y="51023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path to affordability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37960" y="548640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trip is out of reach today, there's no simple way to plan and save toward it for tomorrow.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Tripper flips the question travelers are asked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travel platforms start with </a:t>
            </a:r>
            <a:r>
              <a:rPr lang="en-US" sz="160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</a:t>
            </a:r>
            <a:r>
              <a:rPr lang="en-US" sz="160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Tripper starts with </a:t>
            </a:r>
            <a:r>
              <a:rPr lang="en-US" sz="160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Tripper your destination, travel party, trip length, and budget — it builds the entire experience around what you can comfortably afford.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accommodation, travel costs, food budgeting, payments, and savings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Zambian Kwacha pricing — fuel, lodging, and meals, not just room rates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now, or save gradually toward a trip until it's fully funded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46520" y="16002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5EFFC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17830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2103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would you like to stay?”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66560" y="26060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room → hope the rest of the trip fits your wallet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37092" y="3108960"/>
            <a:ext cx="493776" cy="49377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8737092" y="3108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1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370332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4B1F77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38862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TRIPPER WAY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4206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your budget?”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766560" y="47091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D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builds the stay, the route, the food budget, and a savings plan around that number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inputs in. A complete trip plan out.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023360" cy="45720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TELL TRIPPER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594360" cy="59436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7" name="Image 0" descr="images/mapmarker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51" y="260261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871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37360" y="27980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you're headed in Zambia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60120" y="3383280"/>
            <a:ext cx="594360" cy="59436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11" name="Image 1" descr="images/user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51" y="351701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4015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travelers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737360" y="3712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Solo, family, or group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60120" y="4297680"/>
            <a:ext cx="594360" cy="59436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15" name="Image 2" descr="images/calendar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51" y="443141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315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days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737360" y="4626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the trip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60120" y="5212080"/>
            <a:ext cx="594360" cy="59436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19" name="Image 3" descr="images/wallet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851" y="5345811"/>
            <a:ext cx="326898" cy="32689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5230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737360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spend, total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709160" y="3520440"/>
            <a:ext cx="502920" cy="457200"/>
          </a:xfrm>
          <a:prstGeom prst="rightArrow">
            <a:avLst/>
          </a:prstGeom>
          <a:solidFill>
            <a:srgbClr val="8E5FD9">
              <a:alpha val="7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4983480" y="2377440"/>
            <a:ext cx="2194560" cy="2194560"/>
          </a:xfrm>
          <a:prstGeom prst="ellipse">
            <a:avLst/>
          </a:prstGeom>
          <a:solidFill>
            <a:srgbClr val="4B1F77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669280" y="2907792"/>
            <a:ext cx="822960" cy="822960"/>
          </a:xfrm>
          <a:prstGeom prst="ellipse">
            <a:avLst/>
          </a:prstGeom>
          <a:solidFill>
            <a:srgbClr val="4B1F77"/>
          </a:solidFill>
          <a:ln/>
        </p:spPr>
      </p:sp>
      <p:pic>
        <p:nvPicPr>
          <p:cNvPr id="25" name="Image 4" descr="images/cogs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2907792"/>
            <a:ext cx="822960" cy="8229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83480" y="4434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Tripper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7223760" y="3520440"/>
            <a:ext cx="502920" cy="457200"/>
          </a:xfrm>
          <a:prstGeom prst="rightArrow">
            <a:avLst/>
          </a:prstGeom>
          <a:solidFill>
            <a:srgbClr val="8E5FD9">
              <a:alpha val="70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772668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BUILDS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726680" y="17830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891272" y="1947672"/>
            <a:ext cx="502920" cy="50292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31" name="Image 5" descr="images/rout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4429" y="2060829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63840" y="25328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distance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9738360" y="178308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9902952" y="1947672"/>
            <a:ext cx="502920" cy="50292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35" name="Image 6" descr="images/gas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6109" y="2060829"/>
            <a:ext cx="276606" cy="27660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875520" y="25328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 estimate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7726680" y="3364992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7891272" y="3529584"/>
            <a:ext cx="502920" cy="50292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39" name="Image 7" descr="images/bed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4429" y="3642741"/>
            <a:ext cx="276606" cy="27660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863840" y="4114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match</a:t>
            </a:r>
            <a:endParaRPr lang="en-US" sz="1250" dirty="0"/>
          </a:p>
        </p:txBody>
      </p:sp>
      <p:sp>
        <p:nvSpPr>
          <p:cNvPr id="41" name="Shape 31"/>
          <p:cNvSpPr/>
          <p:nvPr/>
        </p:nvSpPr>
        <p:spPr>
          <a:xfrm>
            <a:off x="9738360" y="3364992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9902952" y="3529584"/>
            <a:ext cx="502920" cy="50292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43" name="Image 8" descr="images/food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6109" y="3642741"/>
            <a:ext cx="276606" cy="276606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875520" y="41148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drink budget</a:t>
            </a:r>
            <a:endParaRPr lang="en-US" sz="1250" dirty="0"/>
          </a:p>
        </p:txBody>
      </p:sp>
      <p:sp>
        <p:nvSpPr>
          <p:cNvPr id="45" name="Shape 34"/>
          <p:cNvSpPr/>
          <p:nvPr/>
        </p:nvSpPr>
        <p:spPr>
          <a:xfrm>
            <a:off x="7726680" y="4946904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7891272" y="5111496"/>
            <a:ext cx="502920" cy="50292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47" name="Image 9" descr="images/calculator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4429" y="5224653"/>
            <a:ext cx="276606" cy="276606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7863840" y="56967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 cost</a:t>
            </a:r>
            <a:endParaRPr lang="en-US" sz="1250" dirty="0"/>
          </a:p>
        </p:txBody>
      </p:sp>
      <p:sp>
        <p:nvSpPr>
          <p:cNvPr id="49" name="Shape 37"/>
          <p:cNvSpPr/>
          <p:nvPr/>
        </p:nvSpPr>
        <p:spPr>
          <a:xfrm>
            <a:off x="9738360" y="4946904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50" name="Shape 38"/>
          <p:cNvSpPr/>
          <p:nvPr/>
        </p:nvSpPr>
        <p:spPr>
          <a:xfrm>
            <a:off x="9902952" y="5111496"/>
            <a:ext cx="502920" cy="502920"/>
          </a:xfrm>
          <a:prstGeom prst="ellipse">
            <a:avLst/>
          </a:prstGeom>
          <a:solidFill>
            <a:srgbClr val="F5EFFC"/>
          </a:solidFill>
          <a:ln/>
        </p:spPr>
      </p:sp>
      <p:pic>
        <p:nvPicPr>
          <p:cNvPr id="51" name="Image 10" descr="images/piggy_purp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6109" y="5224653"/>
            <a:ext cx="276606" cy="276606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9875520" y="56967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now or savings plan</a:t>
            </a:r>
            <a:endParaRPr lang="en-US" sz="1250" dirty="0"/>
          </a:p>
        </p:txBody>
      </p:sp>
      <p:sp>
        <p:nvSpPr>
          <p:cNvPr id="53" name="Text 4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54" name="Text 4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SHOWCASE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option shows the full cost of the trip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appear as interactive cards — the way ride options appear in Yango — so travelers compare complete trips, not just rooms.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8105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BUDGET TRIP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848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Lakeside Resort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0" y="267004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images/rou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80" y="2764688"/>
            <a:ext cx="231343" cy="2313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6517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69080" y="26517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05840" y="318211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mages/ga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480" y="3276752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31638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estimate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069080" y="31638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K850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005840" y="369417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mages/bed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480" y="3788816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6758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069080" y="36758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K2,400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1005840" y="42062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mages/food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480" y="4300880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1879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drinks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069080" y="41879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K1,200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005840" y="48828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 COST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611880" y="48097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K4,450</a:t>
            </a:r>
            <a:endParaRPr lang="en-US" sz="3000" dirty="0"/>
          </a:p>
        </p:txBody>
      </p:sp>
      <p:sp>
        <p:nvSpPr>
          <p:cNvPr id="26" name="Shape 20"/>
          <p:cNvSpPr/>
          <p:nvPr/>
        </p:nvSpPr>
        <p:spPr>
          <a:xfrm>
            <a:off x="1005840" y="5385816"/>
            <a:ext cx="46177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27" name="Image 4" descr="images/piggy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" y="5477256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38581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K371 / month for 12 months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005840" y="600760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directly via Mobile Money or Bank — or start saving today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63640" y="155448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4B1F77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6629400" y="18105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GETAWAY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629400" y="20848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Safari Luxury Lodge</a:t>
            </a:r>
            <a:endParaRPr lang="en-US" sz="2400" dirty="0"/>
          </a:p>
        </p:txBody>
      </p:sp>
      <p:sp>
        <p:nvSpPr>
          <p:cNvPr id="33" name="Shape 26"/>
          <p:cNvSpPr/>
          <p:nvPr/>
        </p:nvSpPr>
        <p:spPr>
          <a:xfrm>
            <a:off x="6629400" y="2670048"/>
            <a:ext cx="420624" cy="420624"/>
          </a:xfrm>
          <a:prstGeom prst="ellipse">
            <a:avLst/>
          </a:prstGeom>
          <a:solidFill>
            <a:srgbClr val="6B3DB8"/>
          </a:solidFill>
          <a:ln/>
        </p:spPr>
      </p:sp>
      <p:pic>
        <p:nvPicPr>
          <p:cNvPr id="34" name="Image 5" descr="images/rout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040" y="2764688"/>
            <a:ext cx="231343" cy="23134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23760" y="26517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9692640" y="26517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km</a:t>
            </a:r>
            <a:endParaRPr lang="en-US" sz="1500" dirty="0"/>
          </a:p>
        </p:txBody>
      </p:sp>
      <p:sp>
        <p:nvSpPr>
          <p:cNvPr id="37" name="Shape 29"/>
          <p:cNvSpPr/>
          <p:nvPr/>
        </p:nvSpPr>
        <p:spPr>
          <a:xfrm>
            <a:off x="6629400" y="3182112"/>
            <a:ext cx="420624" cy="420624"/>
          </a:xfrm>
          <a:prstGeom prst="ellipse">
            <a:avLst/>
          </a:prstGeom>
          <a:solidFill>
            <a:srgbClr val="6B3DB8"/>
          </a:solidFill>
          <a:ln/>
        </p:spPr>
      </p:sp>
      <p:pic>
        <p:nvPicPr>
          <p:cNvPr id="38" name="Image 6" descr="images/ga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040" y="3276752"/>
            <a:ext cx="231343" cy="23134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223760" y="31638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estimate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9692640" y="31638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K850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6629400" y="3694176"/>
            <a:ext cx="420624" cy="420624"/>
          </a:xfrm>
          <a:prstGeom prst="ellipse">
            <a:avLst/>
          </a:prstGeom>
          <a:solidFill>
            <a:srgbClr val="6B3DB8"/>
          </a:solidFill>
          <a:ln/>
        </p:spPr>
      </p:sp>
      <p:pic>
        <p:nvPicPr>
          <p:cNvPr id="42" name="Image 7" descr="images/be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4040" y="3788816"/>
            <a:ext cx="231343" cy="231343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223760" y="36758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9692640" y="36758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K6,500</a:t>
            </a:r>
            <a:endParaRPr lang="en-US" sz="1500" dirty="0"/>
          </a:p>
        </p:txBody>
      </p:sp>
      <p:sp>
        <p:nvSpPr>
          <p:cNvPr id="45" name="Shape 35"/>
          <p:cNvSpPr/>
          <p:nvPr/>
        </p:nvSpPr>
        <p:spPr>
          <a:xfrm>
            <a:off x="6629400" y="4206240"/>
            <a:ext cx="420624" cy="420624"/>
          </a:xfrm>
          <a:prstGeom prst="ellipse">
            <a:avLst/>
          </a:prstGeom>
          <a:solidFill>
            <a:srgbClr val="6B3DB8"/>
          </a:solidFill>
          <a:ln/>
        </p:spPr>
      </p:sp>
      <p:pic>
        <p:nvPicPr>
          <p:cNvPr id="46" name="Image 8" descr="images/food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040" y="4300880"/>
            <a:ext cx="231343" cy="23134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223760" y="41879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drinks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9692640" y="41879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K2,100</a:t>
            </a:r>
            <a:endParaRPr lang="en-US" sz="1500" dirty="0"/>
          </a:p>
        </p:txBody>
      </p:sp>
      <p:sp>
        <p:nvSpPr>
          <p:cNvPr id="49" name="Text 38"/>
          <p:cNvSpPr/>
          <p:nvPr/>
        </p:nvSpPr>
        <p:spPr>
          <a:xfrm>
            <a:off x="6629400" y="48828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8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 COST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9235440" y="48097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K9,450</a:t>
            </a:r>
            <a:endParaRPr lang="en-US" sz="3000" dirty="0"/>
          </a:p>
        </p:txBody>
      </p:sp>
      <p:sp>
        <p:nvSpPr>
          <p:cNvPr id="51" name="Shape 40"/>
          <p:cNvSpPr/>
          <p:nvPr/>
        </p:nvSpPr>
        <p:spPr>
          <a:xfrm>
            <a:off x="6629400" y="5385816"/>
            <a:ext cx="4617720" cy="530352"/>
          </a:xfrm>
          <a:prstGeom prst="roundRect">
            <a:avLst>
              <a:gd name="adj" fmla="val 50000"/>
            </a:avLst>
          </a:prstGeom>
          <a:solidFill>
            <a:srgbClr val="6B3DB8"/>
          </a:solidFill>
          <a:ln/>
        </p:spPr>
      </p:sp>
      <p:pic>
        <p:nvPicPr>
          <p:cNvPr id="52" name="Image 9" descr="images/piggy_gol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3992" y="5477256"/>
            <a:ext cx="347472" cy="347472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269480" y="538581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K788 / month for 12 months</a:t>
            </a:r>
            <a:endParaRPr lang="en-US" sz="1250" dirty="0"/>
          </a:p>
        </p:txBody>
      </p:sp>
      <p:sp>
        <p:nvSpPr>
          <p:cNvPr id="54" name="Text 42"/>
          <p:cNvSpPr/>
          <p:nvPr/>
        </p:nvSpPr>
        <p:spPr>
          <a:xfrm>
            <a:off x="6629400" y="600760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8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directly via Mobile Money or Bank — or start saving today</a:t>
            </a:r>
            <a:endParaRPr lang="en-US" sz="1100" dirty="0"/>
          </a:p>
        </p:txBody>
      </p:sp>
      <p:sp>
        <p:nvSpPr>
          <p:cNvPr id="55" name="Text 4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56" name="Text 4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core journeys, one seamless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731520" cy="731520"/>
          </a:xfrm>
          <a:prstGeom prst="ellipse">
            <a:avLst/>
          </a:prstGeom>
          <a:solidFill>
            <a:srgbClr val="4B1F77"/>
          </a:solidFill>
          <a:ln/>
        </p:spPr>
      </p:sp>
      <p:pic>
        <p:nvPicPr>
          <p:cNvPr id="6" name="Image 0" descr="image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65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Room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booking for travelers who already know where they're going.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5204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location, group size, budget range &amp; dates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searches available rooms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to confirm — lodge gets instant confirmation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generated, hotel contacts the customer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98848" y="16459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18888" y="1965960"/>
            <a:ext cx="731520" cy="731520"/>
          </a:xfrm>
          <a:prstGeom prst="ellipse">
            <a:avLst/>
          </a:prstGeom>
          <a:solidFill>
            <a:srgbClr val="4B1F77"/>
          </a:solidFill>
          <a:ln/>
        </p:spPr>
      </p:sp>
      <p:pic>
        <p:nvPicPr>
          <p:cNvPr id="12" name="Image 1" descr="image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33288" y="1965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818888" y="2834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experience — a full trip built around a budget.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18888" y="35204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location, group size, budget, dates &amp; transport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include food services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generates a complete trip budget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inclusions, then confirm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57616" y="16459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77656" y="1965960"/>
            <a:ext cx="731520" cy="731520"/>
          </a:xfrm>
          <a:prstGeom prst="ellipse">
            <a:avLst/>
          </a:prstGeom>
          <a:solidFill>
            <a:srgbClr val="4B1F77"/>
          </a:solidFill>
          <a:ln/>
        </p:spPr>
      </p:sp>
      <p:pic>
        <p:nvPicPr>
          <p:cNvPr id="18" name="Image 2" descr="images/pigg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92056" y="1965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to Trip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677656" y="2834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 aspirational trip into an achievable plan.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77656" y="35204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plan using Planner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saving toward it on a flexible schedule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processed once fully funded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➤"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special discounts along the way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travelers, accommodation partners, and admins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4B1F77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731520" cy="731520"/>
          </a:xfrm>
          <a:prstGeom prst="ellipse">
            <a:avLst/>
          </a:prstGeom>
          <a:solidFill>
            <a:srgbClr val="6B3DB8"/>
          </a:solidFill>
          <a:ln/>
        </p:spPr>
      </p:sp>
      <p:pic>
        <p:nvPicPr>
          <p:cNvPr id="6" name="Image 0" descr="images/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Traveler App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2278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using Tripper to plan, pay, and save.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booked rooms &amp; transaction history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on bookings, payments &amp; savings progress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98848" y="160020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4B1F77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18888" y="1920240"/>
            <a:ext cx="731520" cy="731520"/>
          </a:xfrm>
          <a:prstGeom prst="ellipse">
            <a:avLst/>
          </a:prstGeom>
          <a:solidFill>
            <a:srgbClr val="6B3DB8"/>
          </a:solidFill>
          <a:ln/>
        </p:spPr>
      </p:sp>
      <p:pic>
        <p:nvPicPr>
          <p:cNvPr id="12" name="Image 1" descr="image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103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18888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Accommodation Dashboard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818888" y="32278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Lodges, hotels &amp; guesthouses managing their presence on Tripper.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18888" y="393192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rooms, prices &amp; amenities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bookings via portal, email or SMS/WhatsApp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menus &amp; manage bookings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amounts owed and received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customer communication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57616" y="1600200"/>
            <a:ext cx="3611880" cy="4617720"/>
          </a:xfrm>
          <a:prstGeom prst="roundRect">
            <a:avLst>
              <a:gd name="adj" fmla="val 2025"/>
            </a:avLst>
          </a:prstGeom>
          <a:solidFill>
            <a:srgbClr val="4B1F77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77656" y="1920240"/>
            <a:ext cx="731520" cy="731520"/>
          </a:xfrm>
          <a:prstGeom prst="ellipse">
            <a:avLst/>
          </a:prstGeom>
          <a:solidFill>
            <a:srgbClr val="6B3DB8"/>
          </a:solidFill>
          <a:ln/>
        </p:spPr>
      </p:sp>
      <p:pic>
        <p:nvPicPr>
          <p:cNvPr id="18" name="Image 2" descr="images/adm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21031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77656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677656" y="32278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Tripper's control center for operations and growth.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77656" y="393192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manage all accommodations and users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payments &amp; confirm bookings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owed payments &amp; view all transactions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➤"/>
            </a:pPr>
            <a:r>
              <a:rPr lang="en-US" sz="120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reports, manage cashbacks &amp; refunds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Zambia's tourism boom is outpacing the tools to plan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Tourist Arrivals (millions)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914400" y="2148840"/>
          <a:ext cx="4572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600200"/>
            <a:ext cx="55321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17920" y="160020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+70%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138160" y="160020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international arrivals, 2023 → 2024 — a record 2.2 million visitors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2505456"/>
            <a:ext cx="55321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0" y="250545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9.9%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8138160" y="2505456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Zambia's GDP now comes from tourism, up from 2.4% in 2012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89320" y="3410712"/>
            <a:ext cx="55321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341071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US$209M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8138160" y="3410712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Travel &amp; Tourism market by 2029, up from US$133.7M in 2024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4315968"/>
            <a:ext cx="55321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17920" y="43159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8138160" y="431596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travel revenue projected to move online by 2029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89320" y="5221224"/>
            <a:ext cx="55321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17920" y="522122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613,000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8138160" y="5221224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jobs projected by 2034, up from 473,000 today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revenue streams from a single trip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39696" cy="3383280"/>
          </a:xfrm>
          <a:prstGeom prst="roundRect">
            <a:avLst>
              <a:gd name="adj" fmla="val 3419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1308" y="2240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mages/percen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618" y="24345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2461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commission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commission on every Find Room and Planner booking confirmed through accommodation partners.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71800" y="1920240"/>
            <a:ext cx="2139696" cy="3383280"/>
          </a:xfrm>
          <a:prstGeom prst="roundRect">
            <a:avLst>
              <a:gd name="adj" fmla="val 3419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3028" y="2240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mages/piggy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338" y="24345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36392" y="32461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plan partnerships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154680" y="39319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with mobile money &amp; banking partners on funds held and moved through Save to Trip.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303520" y="1920240"/>
            <a:ext cx="2139696" cy="3383280"/>
          </a:xfrm>
          <a:prstGeom prst="roundRect">
            <a:avLst>
              <a:gd name="adj" fmla="val 3419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84748" y="2240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mages/star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058" y="24345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68112" y="32461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placements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486400" y="39319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listings and promoted accommodation cards for lodges, hotels &amp; resorts.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635240" y="1920240"/>
            <a:ext cx="2139696" cy="3383280"/>
          </a:xfrm>
          <a:prstGeom prst="roundRect">
            <a:avLst>
              <a:gd name="adj" fmla="val 3419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16468" y="2240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mages/card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778" y="243459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99832" y="32461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processing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818120" y="39319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fee on mobile money and bank transactions processed through the platform.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966960" y="1920240"/>
            <a:ext cx="2139696" cy="3383280"/>
          </a:xfrm>
          <a:prstGeom prst="roundRect">
            <a:avLst>
              <a:gd name="adj" fmla="val 3419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648188" y="2240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mages/chart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2498" y="243459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131552" y="324612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reporting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0149840" y="3931920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travel demand and pricing insights licensed to tourism boards &amp; operators.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40080" y="548640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4B1F77"/>
          </a:solidFill>
          <a:ln/>
        </p:spPr>
      </p:sp>
      <p:sp>
        <p:nvSpPr>
          <p:cNvPr id="30" name="Text 23"/>
          <p:cNvSpPr/>
          <p:nvPr/>
        </p:nvSpPr>
        <p:spPr>
          <a:xfrm>
            <a:off x="914400" y="548640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 planned on Tripper touches accommodation, payments, and savings — compounding revenue opportunities per user, per trip.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differently — and built for Zambia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27080" cy="448056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E5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Travel Apps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1F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5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“Where do you want to stay?”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is your budget?”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5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room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Travel, stay, food &amp; total trip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options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5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in full, now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now, or save gradually to a savings goal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5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global pricing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Zambian Kwacha, real fuel &amp; food costs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Accommodation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5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local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partnerships with Zambian lodges &amp; hotels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it serves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5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Travelers who are already booking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1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Travelers planning, saving, and dreaming ahead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Copperbelt MVP to a national travel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96896" cy="4434840"/>
          </a:xfrm>
          <a:prstGeom prst="roundRect">
            <a:avLst>
              <a:gd name="adj" fmla="val 2817"/>
            </a:avLst>
          </a:prstGeom>
          <a:solidFill>
            <a:srgbClr val="4B1F77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0–3 MONTHS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the MVP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20939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Room &amp; Planner engine live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lodges in Lusaka, Livingstone &amp; the Copperbelt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payment integration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8144" y="1783080"/>
            <a:ext cx="2596896" cy="4434840"/>
          </a:xfrm>
          <a:prstGeom prst="roundRect">
            <a:avLst>
              <a:gd name="adj" fmla="val 2817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12464" y="2057400"/>
            <a:ext cx="548640" cy="548640"/>
          </a:xfrm>
          <a:prstGeom prst="ellipse">
            <a:avLst/>
          </a:prstGeom>
          <a:solidFill>
            <a:srgbClr val="8E5FD9"/>
          </a:solidFill>
          <a:ln/>
        </p:spPr>
      </p:sp>
      <p:sp>
        <p:nvSpPr>
          <p:cNvPr id="12" name="Text 10"/>
          <p:cNvSpPr/>
          <p:nvPr/>
        </p:nvSpPr>
        <p:spPr>
          <a:xfrm>
            <a:off x="371246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12464" y="274320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3–9 MONTHS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12464" y="329184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to Trip &amp; Partner Dashboard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12464" y="4069080"/>
            <a:ext cx="20939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Save to Trip savings plans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Accommodation Management Dashboard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national parks &amp; tourist routes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6208" y="1783080"/>
            <a:ext cx="2596896" cy="4434840"/>
          </a:xfrm>
          <a:prstGeom prst="roundRect">
            <a:avLst>
              <a:gd name="adj" fmla="val 2817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0528" y="2057400"/>
            <a:ext cx="548640" cy="548640"/>
          </a:xfrm>
          <a:prstGeom prst="ellipse">
            <a:avLst/>
          </a:prstGeom>
          <a:solidFill>
            <a:srgbClr val="8E5FD9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10528" y="274320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9–18 MONTHS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0528" y="329184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network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10528" y="4069080"/>
            <a:ext cx="20939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full reporting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accommodation network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marketplace &amp; transport partnerships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34272" y="1783080"/>
            <a:ext cx="2596896" cy="4434840"/>
          </a:xfrm>
          <a:prstGeom prst="roundRect">
            <a:avLst>
              <a:gd name="adj" fmla="val 2817"/>
            </a:avLst>
          </a:prstGeom>
          <a:solidFill>
            <a:srgbClr val="F5EFFC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08592" y="2057400"/>
            <a:ext cx="548640" cy="548640"/>
          </a:xfrm>
          <a:prstGeom prst="ellipse">
            <a:avLst/>
          </a:prstGeom>
          <a:solidFill>
            <a:srgbClr val="8E5FD9"/>
          </a:solidFill>
          <a:ln/>
        </p:spPr>
      </p:sp>
      <p:sp>
        <p:nvSpPr>
          <p:cNvPr id="24" name="Text 22"/>
          <p:cNvSpPr/>
          <p:nvPr/>
        </p:nvSpPr>
        <p:spPr>
          <a:xfrm>
            <a:off x="930859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08592" y="274320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18–24 MONTHS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08592" y="3291840"/>
            <a:ext cx="2048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expansion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08592" y="4069080"/>
            <a:ext cx="20939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SADC travel corridors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data products for tourism boards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➤"/>
            </a:pPr>
            <a:r>
              <a:rPr lang="en-US" sz="1150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discount partner network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8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funding to take Tripper from MVP to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4B1F77"/>
          </a:solidFill>
          <a:ln/>
          <a:effectLst>
            <a:outerShdw blurRad="101600" dist="38100" dir="2700000" algn="bl" rotWithShape="0">
              <a:srgbClr val="2A0F4D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ZMW K50,000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out the full platform, onboard accommodation partners across Zambia's key tourism corridors, and reach the first wave of travelers.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5623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 runway to reach Phase 3 of the roadmap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</a:t>
            </a:r>
            <a:endParaRPr lang="en-US" sz="18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029200" y="2103120"/>
          <a:ext cx="3931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9235440" y="2203704"/>
            <a:ext cx="201168" cy="201168"/>
          </a:xfrm>
          <a:prstGeom prst="ellipse">
            <a:avLst/>
          </a:prstGeom>
          <a:solidFill>
            <a:srgbClr val="4B1F77"/>
          </a:solidFill>
          <a:ln/>
        </p:spPr>
      </p:sp>
      <p:sp>
        <p:nvSpPr>
          <p:cNvPr id="12" name="Text 9"/>
          <p:cNvSpPr/>
          <p:nvPr/>
        </p:nvSpPr>
        <p:spPr>
          <a:xfrm>
            <a:off x="95554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55548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235440" y="3209544"/>
            <a:ext cx="201168" cy="201168"/>
          </a:xfrm>
          <a:prstGeom prst="ellipse">
            <a:avLst/>
          </a:prstGeom>
          <a:solidFill>
            <a:srgbClr val="8E5FD9"/>
          </a:solidFill>
          <a:ln/>
        </p:spPr>
      </p:sp>
      <p:sp>
        <p:nvSpPr>
          <p:cNvPr id="15" name="Text 12"/>
          <p:cNvSpPr/>
          <p:nvPr/>
        </p:nvSpPr>
        <p:spPr>
          <a:xfrm>
            <a:off x="95554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 &amp; Marketing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555480" y="3502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235440" y="4215384"/>
            <a:ext cx="201168" cy="20116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95554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Team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555480" y="4507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235440" y="5221224"/>
            <a:ext cx="201168" cy="201168"/>
          </a:xfrm>
          <a:prstGeom prst="ellipse">
            <a:avLst/>
          </a:prstGeom>
          <a:solidFill>
            <a:srgbClr val="D8C4F5"/>
          </a:solidFill>
          <a:ln/>
        </p:spPr>
      </p:sp>
      <p:sp>
        <p:nvSpPr>
          <p:cNvPr id="21" name="Text 18"/>
          <p:cNvSpPr/>
          <p:nvPr/>
        </p:nvSpPr>
        <p:spPr>
          <a:xfrm>
            <a:off x="9555480" y="5166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555480" y="5513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1F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0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4B1F77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2926080"/>
            <a:ext cx="5029200" cy="5029200"/>
          </a:xfrm>
          <a:prstGeom prst="ellipse">
            <a:avLst/>
          </a:prstGeom>
          <a:solidFill>
            <a:srgbClr val="8E5FD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doesn't begin at the destination.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8C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begins the moment someone starts planning.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helps people discover destinations, understand true costs, save with confidence, and enjoy experiences they can afford — without financial stress.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4B1F77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7091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Tripper — Your trip, fully planned before you leave home.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TRIPPER  •  Plan It. Save It. Experience It.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1423</Words>
  <Application>Microsoft Office PowerPoint</Application>
  <PresentationFormat>Widescreen</PresentationFormat>
  <Paragraphs>256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Tripper - Investor Pitch Deck</dc:title>
  <dc:subject>PptxGenJS Presentation</dc:subject>
  <dc:creator>Tripper</dc:creator>
  <cp:lastModifiedBy>kimmy sinzala</cp:lastModifiedBy>
  <cp:revision>3</cp:revision>
  <cp:lastPrinted>2026-06-14T18:31:03Z</cp:lastPrinted>
  <dcterms:created xsi:type="dcterms:W3CDTF">2026-06-14T17:32:54Z</dcterms:created>
  <dcterms:modified xsi:type="dcterms:W3CDTF">2026-06-16T08:54:34Z</dcterms:modified>
</cp:coreProperties>
</file>